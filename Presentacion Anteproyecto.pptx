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</p:sldMasterIdLst>
  <p:notesMasterIdLst>
    <p:notesMasterId r:id="rId9"/>
  </p:notesMasterIdLst>
  <p:sldIdLst>
    <p:sldId id="256" r:id="rId2"/>
    <p:sldId id="344" r:id="rId3"/>
    <p:sldId id="346" r:id="rId4"/>
    <p:sldId id="257" r:id="rId5"/>
    <p:sldId id="349" r:id="rId6"/>
    <p:sldId id="348" r:id="rId7"/>
    <p:sldId id="352" r:id="rId8"/>
  </p:sldIdLst>
  <p:sldSz cx="9144000" cy="5143500" type="screen16x9"/>
  <p:notesSz cx="6858000" cy="9144000"/>
  <p:embeddedFontLst>
    <p:embeddedFont>
      <p:font typeface="DM Serif Display" pitchFamily="2" charset="0"/>
      <p:regular r:id="rId10"/>
      <p:italic r:id="rId11"/>
    </p:embeddedFont>
    <p:embeddedFont>
      <p:font typeface="Karla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313CAB-8594-4D9A-87A0-611CE1F80D08}">
  <a:tblStyle styleId="{48313CAB-8594-4D9A-87A0-611CE1F80D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16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09:12:22.508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2793.29224"/>
      <inkml:brushProperty name="anchorY" value="403.841"/>
      <inkml:brushProperty name="scaleFactor" value="0.5"/>
    </inkml:brush>
  </inkml:definitions>
  <inkml:trace contextRef="#ctx0" brushRef="#br0">1016 1 24575,'0'0'0,"-4"0"0,-5 7 0,-8 4 0,-4 7 0,-3 0 0,-5 0 0,-4 1 0,-4 6 0,1-2 0,-1 2 0,-2 0 0,-1-2 0,3-1 0,-1 2 0,0-1 0,3 3 0,-1-1 0,-5 3 0,-2-2 0,-2 2 0,4 2 0,-3-2 0,-1 2 0,5-6 0,8-2 0,1-2 0,4-6 0,6 0 0,3-4 0,5 0 0,-1-2 0,4 1 0,-1-1 0,2 1 0,-2-1 0,2-2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09:12:32.575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770.66229"/>
      <inkml:brushProperty name="anchorY" value="-3887.36792"/>
      <inkml:brushProperty name="scaleFactor" value="0.5"/>
    </inkml:brush>
  </inkml:definitions>
  <inkml:trace contextRef="#ctx0" brushRef="#br0">0 1 24575,'0'0'0,"0"3"0,4 1 0,7 7 0,11 6 0,3 1 0,6 0 0,2 5 0,10 2 0,4 5 0,2-1 0,1-2 0,-1 2 0,-4-7 0,-5-1 0,-4 1 0,-2-4 0,-3 3 0,-1-1 0,-3-4 0,-2 0 0,-3 0 0,2 0 0,-2 0 0,0-3 0,3 4 0,-2 1 0,4 1 0,2 0 0,-2-4 0,-4 1 0,-3-5 0,-2 0 0,0-2 0,-1 1 0,-4 2 0,0-2 0,1-3 0,0 2 0,-2-1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09:12:36.28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801.53589"/>
      <inkml:brushProperty name="anchorY" value="-5545.37646"/>
      <inkml:brushProperty name="scaleFactor" value="0.5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09:12:36.282"/>
    </inkml:context>
    <inkml:brush xml:id="br0">
      <inkml:brushProperty name="width" value="0.05" units="cm"/>
      <inkml:brushProperty name="height" value="0.05" units="cm"/>
      <inkml:brushProperty name="color" value="#0B868D"/>
      <inkml:brushProperty name="inkEffects" value="ocean"/>
      <inkml:brushProperty name="anchorX" value="-2801.53589"/>
      <inkml:brushProperty name="anchorY" value="-5545.37646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d4db157b90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d4db157b90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23DEAA5-E6EA-9888-87EA-AF12DEE1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d4db157b90_0_350:notes">
            <a:extLst>
              <a:ext uri="{FF2B5EF4-FFF2-40B4-BE49-F238E27FC236}">
                <a16:creationId xmlns:a16="http://schemas.microsoft.com/office/drawing/2014/main" id="{12E4CDDA-C83F-1E5A-6AF2-3EDCF8F044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d4db157b90_0_350:notes">
            <a:extLst>
              <a:ext uri="{FF2B5EF4-FFF2-40B4-BE49-F238E27FC236}">
                <a16:creationId xmlns:a16="http://schemas.microsoft.com/office/drawing/2014/main" id="{460D6537-C558-B81D-435E-04CEEB669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592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EC0DDDF3-6BBF-621E-B6F9-41948B89C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d4db157b90_0_350:notes">
            <a:extLst>
              <a:ext uri="{FF2B5EF4-FFF2-40B4-BE49-F238E27FC236}">
                <a16:creationId xmlns:a16="http://schemas.microsoft.com/office/drawing/2014/main" id="{A7839346-3F95-FAD8-54F1-E7A4007077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d4db157b90_0_350:notes">
            <a:extLst>
              <a:ext uri="{FF2B5EF4-FFF2-40B4-BE49-F238E27FC236}">
                <a16:creationId xmlns:a16="http://schemas.microsoft.com/office/drawing/2014/main" id="{FA92DA0B-A2E4-070F-0D2A-CE2C276B4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830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58E556F-BEDB-3351-AA85-FFB44C01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d4db157b90_0_350:notes">
            <a:extLst>
              <a:ext uri="{FF2B5EF4-FFF2-40B4-BE49-F238E27FC236}">
                <a16:creationId xmlns:a16="http://schemas.microsoft.com/office/drawing/2014/main" id="{CC70E05F-BD1E-ECBD-3D74-CECC324708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d4db157b90_0_350:notes">
            <a:extLst>
              <a:ext uri="{FF2B5EF4-FFF2-40B4-BE49-F238E27FC236}">
                <a16:creationId xmlns:a16="http://schemas.microsoft.com/office/drawing/2014/main" id="{AA733988-1D6E-35DB-E40B-5CCBA2919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3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00900" y="2715863"/>
            <a:ext cx="40005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550" y="184925"/>
            <a:ext cx="3262450" cy="25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913" y="-438012"/>
            <a:ext cx="240982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6910775" y="206125"/>
            <a:ext cx="4339950" cy="31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941800" y="2746450"/>
            <a:ext cx="1733750" cy="394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953325" y="1452750"/>
            <a:ext cx="7237500" cy="18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40125" y="3266850"/>
            <a:ext cx="60639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7018400" y="-1769425"/>
            <a:ext cx="1733750" cy="394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143088" y="1694737"/>
            <a:ext cx="3538475" cy="20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0725" y="2721400"/>
            <a:ext cx="1666150" cy="16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698700" y="376250"/>
            <a:ext cx="1812850" cy="140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093575" y="70425"/>
            <a:ext cx="1209425" cy="15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202858">
            <a:off x="3893650" y="3376778"/>
            <a:ext cx="1271700" cy="308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4597155">
            <a:off x="5301490" y="3580353"/>
            <a:ext cx="2002458" cy="455925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_2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>
            <a:spLocks noGrp="1"/>
          </p:cNvSpPr>
          <p:nvPr>
            <p:ph type="title"/>
          </p:nvPr>
        </p:nvSpPr>
        <p:spPr>
          <a:xfrm>
            <a:off x="1986650" y="1320550"/>
            <a:ext cx="27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9" name="Google Shape;269;p29"/>
          <p:cNvSpPr txBox="1">
            <a:spLocks noGrp="1"/>
          </p:cNvSpPr>
          <p:nvPr>
            <p:ph type="subTitle" idx="1"/>
          </p:nvPr>
        </p:nvSpPr>
        <p:spPr>
          <a:xfrm>
            <a:off x="1986650" y="1687090"/>
            <a:ext cx="27489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9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9"/>
          <p:cNvSpPr txBox="1">
            <a:spLocks noGrp="1"/>
          </p:cNvSpPr>
          <p:nvPr>
            <p:ph type="title" idx="3"/>
          </p:nvPr>
        </p:nvSpPr>
        <p:spPr>
          <a:xfrm>
            <a:off x="1986651" y="2410105"/>
            <a:ext cx="27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2" name="Google Shape;272;p29"/>
          <p:cNvSpPr txBox="1">
            <a:spLocks noGrp="1"/>
          </p:cNvSpPr>
          <p:nvPr>
            <p:ph type="subTitle" idx="4"/>
          </p:nvPr>
        </p:nvSpPr>
        <p:spPr>
          <a:xfrm>
            <a:off x="1986650" y="2767986"/>
            <a:ext cx="27489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9"/>
          <p:cNvSpPr txBox="1">
            <a:spLocks noGrp="1"/>
          </p:cNvSpPr>
          <p:nvPr>
            <p:ph type="title" idx="5"/>
          </p:nvPr>
        </p:nvSpPr>
        <p:spPr>
          <a:xfrm>
            <a:off x="1986652" y="3508295"/>
            <a:ext cx="27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4" name="Google Shape;274;p29"/>
          <p:cNvSpPr txBox="1">
            <a:spLocks noGrp="1"/>
          </p:cNvSpPr>
          <p:nvPr>
            <p:ph type="subTitle" idx="6"/>
          </p:nvPr>
        </p:nvSpPr>
        <p:spPr>
          <a:xfrm>
            <a:off x="1986650" y="3870514"/>
            <a:ext cx="27489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282886">
            <a:off x="8609178" y="2736320"/>
            <a:ext cx="1774245" cy="403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7797200" y="29411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500000">
            <a:off x="-1570436" y="1705650"/>
            <a:ext cx="3031284" cy="217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9305281">
            <a:off x="6956225" y="-36025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399999">
            <a:off x="6172375" y="658451"/>
            <a:ext cx="3810950" cy="273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0">
            <a:off x="155678" y="1026170"/>
            <a:ext cx="1774244" cy="403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_1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178600" y="16076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956358">
            <a:off x="5559239" y="-1676283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32425" y="2105999"/>
            <a:ext cx="2786538" cy="216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119786" y="3372335"/>
            <a:ext cx="2058291" cy="199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6645600" y="36980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 flipH="1">
            <a:off x="7220750" y="359375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58732">
            <a:off x="-399179" y="-654803"/>
            <a:ext cx="2002458" cy="455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2" r:id="rId4"/>
    <p:sldLayoutId id="2147483675" r:id="rId5"/>
    <p:sldLayoutId id="2147483694" r:id="rId6"/>
    <p:sldLayoutId id="2147483695" r:id="rId7"/>
    <p:sldLayoutId id="214748369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3"/>
          <p:cNvSpPr txBox="1">
            <a:spLocks noGrp="1"/>
          </p:cNvSpPr>
          <p:nvPr>
            <p:ph type="ctrTitle"/>
          </p:nvPr>
        </p:nvSpPr>
        <p:spPr>
          <a:xfrm>
            <a:off x="953325" y="1452750"/>
            <a:ext cx="7237500" cy="18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SISTEMA DE EMPAREJAMIENTO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BD2520F-A613-7D41-C197-0E3E93ECA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092" y="1398420"/>
            <a:ext cx="4076162" cy="1507118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36ED9298-B83A-E823-3D9C-687B46F9A152}"/>
              </a:ext>
            </a:extLst>
          </p:cNvPr>
          <p:cNvSpPr txBox="1">
            <a:spLocks/>
          </p:cNvSpPr>
          <p:nvPr/>
        </p:nvSpPr>
        <p:spPr>
          <a:xfrm>
            <a:off x="915884" y="729218"/>
            <a:ext cx="7178488" cy="60374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12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Karla" pitchFamily="2" charset="0"/>
              </a:rPr>
              <a:t>Se realizó un evento para que las personas encontraran a su pareja ideal dentro de la facultad de ciencias, UNAM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3663E7B8-FF7B-E1BD-5C97-D94DD43E4813}"/>
              </a:ext>
            </a:extLst>
          </p:cNvPr>
          <p:cNvSpPr txBox="1">
            <a:spLocks/>
          </p:cNvSpPr>
          <p:nvPr/>
        </p:nvSpPr>
        <p:spPr>
          <a:xfrm>
            <a:off x="915884" y="3129565"/>
            <a:ext cx="7178488" cy="196336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98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Karla" pitchFamily="2" charset="0"/>
              </a:rPr>
              <a:t>La información se recabo a través de un formulario de Google </a:t>
            </a:r>
            <a:r>
              <a:rPr lang="es-MX" sz="1200" dirty="0" err="1">
                <a:latin typeface="Karla" pitchFamily="2" charset="0"/>
              </a:rPr>
              <a:t>forms</a:t>
            </a:r>
            <a:r>
              <a:rPr lang="es-MX" sz="1200" dirty="0">
                <a:latin typeface="Karla" pitchFamily="2" charset="0"/>
              </a:rPr>
              <a:t>, con las siguientes preguntas:</a:t>
            </a:r>
          </a:p>
          <a:p>
            <a:pPr marL="355600" lvl="1" indent="-228600">
              <a:buFont typeface="+mj-lt"/>
              <a:buAutoNum type="arabicPeriod"/>
            </a:pPr>
            <a:r>
              <a:rPr lang="es-MX" sz="1200" dirty="0">
                <a:latin typeface="Karla" pitchFamily="2" charset="0"/>
              </a:rPr>
              <a:t>¿Cómo te identificas? (Hombre/Mujer)  </a:t>
            </a:r>
          </a:p>
          <a:p>
            <a:pPr marL="355600" lvl="1" indent="-228600">
              <a:buFont typeface="+mj-lt"/>
              <a:buAutoNum type="arabicPeriod"/>
            </a:pPr>
            <a:r>
              <a:rPr lang="es-MX" sz="1200" dirty="0">
                <a:latin typeface="Karla" pitchFamily="2" charset="0"/>
              </a:rPr>
              <a:t>¿Qué te gusta? (Hombres/Mujeres/Ambos)</a:t>
            </a:r>
          </a:p>
          <a:p>
            <a:pPr marL="355600" lvl="1" indent="-228600">
              <a:buFont typeface="+mj-lt"/>
              <a:buAutoNum type="arabicPeriod"/>
            </a:pPr>
            <a:r>
              <a:rPr lang="es-MX" sz="1200" dirty="0">
                <a:latin typeface="Karla" pitchFamily="2" charset="0"/>
              </a:rPr>
              <a:t>¿Principalmente qué estás buscando? (Casual/Relación/Amistad)  </a:t>
            </a:r>
          </a:p>
          <a:p>
            <a:pPr marL="355600" lvl="1" indent="-228600">
              <a:buFont typeface="+mj-lt"/>
              <a:buAutoNum type="arabicPeriod"/>
            </a:pPr>
            <a:r>
              <a:rPr lang="es-MX" sz="1200" dirty="0">
                <a:latin typeface="Karla" pitchFamily="2" charset="0"/>
              </a:rPr>
              <a:t>Hobbies </a:t>
            </a:r>
          </a:p>
          <a:p>
            <a:pPr marL="355600" lvl="1" indent="-228600">
              <a:buFont typeface="+mj-lt"/>
              <a:buAutoNum type="arabicPeriod"/>
            </a:pPr>
            <a:r>
              <a:rPr lang="es-MX" sz="1200" dirty="0">
                <a:latin typeface="Karla" pitchFamily="2" charset="0"/>
              </a:rPr>
              <a:t>Para la primera cita prefieres</a:t>
            </a:r>
          </a:p>
          <a:p>
            <a:pPr marL="355600" lvl="1" indent="-228600">
              <a:buFont typeface="+mj-lt"/>
              <a:buAutoNum type="arabicPeriod"/>
            </a:pPr>
            <a:r>
              <a:rPr lang="es-MX" sz="1200" dirty="0">
                <a:latin typeface="Karla" pitchFamily="2" charset="0"/>
              </a:rPr>
              <a:t>Lugares favoritos de la facultad</a:t>
            </a:r>
          </a:p>
          <a:p>
            <a:pPr marL="355600" lvl="1" indent="-228600">
              <a:buFont typeface="+mj-lt"/>
              <a:buAutoNum type="arabicPeriod"/>
            </a:pPr>
            <a:r>
              <a:rPr lang="es-MX" sz="1200" dirty="0">
                <a:latin typeface="Karla" pitchFamily="2" charset="0"/>
              </a:rPr>
              <a:t>Escribe algo a tu match</a:t>
            </a:r>
          </a:p>
        </p:txBody>
      </p:sp>
      <p:sp>
        <p:nvSpPr>
          <p:cNvPr id="9" name="Google Shape;559;p60">
            <a:extLst>
              <a:ext uri="{FF2B5EF4-FFF2-40B4-BE49-F238E27FC236}">
                <a16:creationId xmlns:a16="http://schemas.microsoft.com/office/drawing/2014/main" id="{23CF0970-6A15-A27A-0885-7C3083C455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5162" y="0"/>
            <a:ext cx="6082885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s-MX" dirty="0"/>
              <a:t>Introducción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644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ítulo 2">
            <a:extLst>
              <a:ext uri="{FF2B5EF4-FFF2-40B4-BE49-F238E27FC236}">
                <a16:creationId xmlns:a16="http://schemas.microsoft.com/office/drawing/2014/main" id="{E303BA4F-DD74-1972-C3E9-DBD80BDC1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75" y="1326097"/>
            <a:ext cx="6828397" cy="2147307"/>
          </a:xfrm>
        </p:spPr>
        <p:txBody>
          <a:bodyPr/>
          <a:lstStyle/>
          <a:p>
            <a:pPr algn="ctr">
              <a:buFont typeface="Arial" panose="020B0604020202020204" pitchFamily="34" charset="0"/>
              <a:buChar char="•"/>
            </a:pPr>
            <a:r>
              <a:rPr lang="es-MX" dirty="0"/>
              <a:t>¿Qué combinación de métricas de similitud y ponderaciones entre variables produce los emparejamientos más coherentes entre usuarios, considerando sus preferencias, actividades y lenguaje natural? </a:t>
            </a:r>
          </a:p>
          <a:p>
            <a:pPr marL="127000" indent="0" algn="ctr"/>
            <a:endParaRPr lang="es-MX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s-MX" dirty="0"/>
              <a:t>¿Qué patrones, temas o tonos predominan en los mensajes escritos por los participantes, y qué pueden revelar sobre las motivaciones y expectativas al participar en el formulario? 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B846B207-7B51-5AE0-F1DB-16236AD9ECEF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013076" y="552656"/>
            <a:ext cx="6828397" cy="572700"/>
          </a:xfrm>
        </p:spPr>
        <p:txBody>
          <a:bodyPr/>
          <a:lstStyle/>
          <a:p>
            <a:r>
              <a:rPr lang="es-MX" dirty="0"/>
              <a:t>Preguntas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336446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 txBox="1">
            <a:spLocks noGrp="1"/>
          </p:cNvSpPr>
          <p:nvPr>
            <p:ph type="title"/>
          </p:nvPr>
        </p:nvSpPr>
        <p:spPr>
          <a:xfrm>
            <a:off x="713250" y="14479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Objetivos</a:t>
            </a:r>
            <a:endParaRPr dirty="0"/>
          </a:p>
        </p:txBody>
      </p:sp>
      <p:sp>
        <p:nvSpPr>
          <p:cNvPr id="498" name="Google Shape;498;p54"/>
          <p:cNvSpPr txBox="1">
            <a:spLocks noGrp="1"/>
          </p:cNvSpPr>
          <p:nvPr>
            <p:ph type="body" idx="1"/>
          </p:nvPr>
        </p:nvSpPr>
        <p:spPr>
          <a:xfrm>
            <a:off x="594813" y="717495"/>
            <a:ext cx="8115011" cy="3884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just"/>
            <a:r>
              <a:rPr lang="es-MX" sz="1600" dirty="0"/>
              <a:t>Preprocesar y limpiar el conjunto de datos, asegurando una única respuesta por participante</a:t>
            </a:r>
          </a:p>
          <a:p>
            <a:pPr marL="171450" indent="-171450" algn="just"/>
            <a:endParaRPr lang="es-MX" sz="1600" dirty="0"/>
          </a:p>
          <a:p>
            <a:pPr marL="171450" indent="-171450" algn="just"/>
            <a:r>
              <a:rPr lang="es-MX" sz="1600" dirty="0"/>
              <a:t>Calcular la similitud entre usuarios para cada pregunta del formulario, utilizando la métrica más adecuada según el tipo de variable </a:t>
            </a:r>
          </a:p>
          <a:p>
            <a:pPr marL="171450" indent="-171450" algn="just"/>
            <a:endParaRPr lang="es-MX" sz="1600" dirty="0"/>
          </a:p>
          <a:p>
            <a:pPr marL="171450" indent="-171450" algn="just"/>
            <a:r>
              <a:rPr lang="es-MX" sz="1600" dirty="0"/>
              <a:t>Integrar las distintas matrices de similitud en una sola matriz global mediante la asignación de pesos diferenciados a cada pregunta</a:t>
            </a:r>
          </a:p>
          <a:p>
            <a:pPr marL="171450" indent="-171450" algn="just"/>
            <a:endParaRPr lang="es-MX" sz="1600" dirty="0"/>
          </a:p>
          <a:p>
            <a:pPr marL="171450" indent="-171450" algn="just"/>
            <a:r>
              <a:rPr lang="es-MX" sz="1600" dirty="0"/>
              <a:t>Implementar una estrategia de emparejamiento basada en la minimización de la distancia total ponderada entre usuarios, utilizando variantes del algoritmo de Gale-Shapley</a:t>
            </a:r>
          </a:p>
          <a:p>
            <a:pPr marL="171450" indent="-171450" algn="just"/>
            <a:endParaRPr lang="es-MX" sz="1600" dirty="0"/>
          </a:p>
          <a:p>
            <a:pPr marL="171450" indent="-171450" algn="just"/>
            <a:r>
              <a:rPr lang="es-MX" sz="1600" dirty="0"/>
              <a:t>Analizar de forma exploratoria el texto libre, identificando patrones temáticos, tonos y características lingüísticas recurrentes entre los participantes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FCA00A-2191-4FF6-55DF-25EF9CBC6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>
            <a:extLst>
              <a:ext uri="{FF2B5EF4-FFF2-40B4-BE49-F238E27FC236}">
                <a16:creationId xmlns:a16="http://schemas.microsoft.com/office/drawing/2014/main" id="{42BE31CA-FF01-B25C-6EF1-4ACEA6BE6B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14479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Metodología</a:t>
            </a:r>
            <a:endParaRPr dirty="0"/>
          </a:p>
        </p:txBody>
      </p:sp>
      <p:sp>
        <p:nvSpPr>
          <p:cNvPr id="498" name="Google Shape;498;p54">
            <a:extLst>
              <a:ext uri="{FF2B5EF4-FFF2-40B4-BE49-F238E27FC236}">
                <a16:creationId xmlns:a16="http://schemas.microsoft.com/office/drawing/2014/main" id="{20B17A5A-67A0-0108-9C90-5D479A52E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1921" y="1127949"/>
            <a:ext cx="8115011" cy="1102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es-MX" sz="1600" dirty="0"/>
              <a:t>557 registros correspondientes a 545 </a:t>
            </a:r>
          </a:p>
          <a:p>
            <a:pPr marL="0" indent="0" algn="just">
              <a:buNone/>
            </a:pPr>
            <a:r>
              <a:rPr lang="es-MX" sz="1600" dirty="0"/>
              <a:t>Para cada usuario se consideraron respuestas a preguntas cerradas sobre actividades, intereses y preferencias, así como un texto libre mínimo de 30 palabras dirigido a su “match” ideal. </a:t>
            </a:r>
          </a:p>
        </p:txBody>
      </p:sp>
      <p:sp>
        <p:nvSpPr>
          <p:cNvPr id="2" name="Google Shape;594;p62">
            <a:extLst>
              <a:ext uri="{FF2B5EF4-FFF2-40B4-BE49-F238E27FC236}">
                <a16:creationId xmlns:a16="http://schemas.microsoft.com/office/drawing/2014/main" id="{C73402B4-242E-D0E6-64B0-AE30510B9A60}"/>
              </a:ext>
            </a:extLst>
          </p:cNvPr>
          <p:cNvSpPr txBox="1">
            <a:spLocks/>
          </p:cNvSpPr>
          <p:nvPr/>
        </p:nvSpPr>
        <p:spPr>
          <a:xfrm>
            <a:off x="713250" y="678849"/>
            <a:ext cx="2352292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algn="l">
              <a:buSzPts val="1100"/>
              <a:buFont typeface="Arial"/>
              <a:buNone/>
            </a:pPr>
            <a:r>
              <a:rPr lang="es-MX" sz="2400" dirty="0"/>
              <a:t>Base de datos</a:t>
            </a:r>
          </a:p>
        </p:txBody>
      </p:sp>
      <p:sp>
        <p:nvSpPr>
          <p:cNvPr id="5" name="Google Shape;594;p62">
            <a:extLst>
              <a:ext uri="{FF2B5EF4-FFF2-40B4-BE49-F238E27FC236}">
                <a16:creationId xmlns:a16="http://schemas.microsoft.com/office/drawing/2014/main" id="{1B8BFAB5-CDB7-6001-1F4C-61B2ADBB56C1}"/>
              </a:ext>
            </a:extLst>
          </p:cNvPr>
          <p:cNvSpPr txBox="1">
            <a:spLocks/>
          </p:cNvSpPr>
          <p:nvPr/>
        </p:nvSpPr>
        <p:spPr>
          <a:xfrm>
            <a:off x="637050" y="2508116"/>
            <a:ext cx="3386309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algn="l">
              <a:buSzPts val="1100"/>
              <a:buFont typeface="Arial"/>
              <a:buNone/>
            </a:pPr>
            <a:r>
              <a:rPr lang="es-MX" sz="2400" dirty="0"/>
              <a:t>Análisis descriptivo</a:t>
            </a:r>
          </a:p>
        </p:txBody>
      </p:sp>
      <p:sp>
        <p:nvSpPr>
          <p:cNvPr id="6" name="Google Shape;498;p54">
            <a:extLst>
              <a:ext uri="{FF2B5EF4-FFF2-40B4-BE49-F238E27FC236}">
                <a16:creationId xmlns:a16="http://schemas.microsoft.com/office/drawing/2014/main" id="{67BBA21C-4B5E-7717-2E71-C43BB1AF040E}"/>
              </a:ext>
            </a:extLst>
          </p:cNvPr>
          <p:cNvSpPr txBox="1">
            <a:spLocks/>
          </p:cNvSpPr>
          <p:nvPr/>
        </p:nvSpPr>
        <p:spPr>
          <a:xfrm>
            <a:off x="514494" y="3037304"/>
            <a:ext cx="8115011" cy="1791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285750" indent="-285750" algn="just"/>
            <a:r>
              <a:rPr lang="es-MX" sz="1600" dirty="0"/>
              <a:t>Gráficas estadísticas con grupos/preferencias</a:t>
            </a:r>
          </a:p>
          <a:p>
            <a:pPr marL="285750" indent="-285750" algn="just"/>
            <a:r>
              <a:rPr lang="es-MX" sz="1600" dirty="0"/>
              <a:t>Análisis de texto libre:</a:t>
            </a:r>
          </a:p>
          <a:p>
            <a:pPr marL="742950" lvl="1" indent="-285750" algn="just"/>
            <a:r>
              <a:rPr lang="es-MX" sz="1400" dirty="0"/>
              <a:t>Análisis de frecuencia de términos y nubes de palabras</a:t>
            </a:r>
          </a:p>
          <a:p>
            <a:pPr marL="742950" lvl="1" indent="-285750" algn="just"/>
            <a:r>
              <a:rPr lang="es-MX" sz="1400" dirty="0"/>
              <a:t>Análisis de tono o sentimiento (positivo, negativo, neutro)</a:t>
            </a:r>
          </a:p>
          <a:p>
            <a:pPr marL="742950" lvl="1" indent="-285750" algn="just"/>
            <a:r>
              <a:rPr lang="es-MX" sz="1400" dirty="0"/>
              <a:t>Agrupamiento semántico para identificar posibles perfiles de lenguaje (por ejemplo, romántico, humorístico o descriptivo)</a:t>
            </a:r>
          </a:p>
          <a:p>
            <a:pPr marL="0" indent="0" algn="just">
              <a:buFont typeface="Karla"/>
              <a:buNone/>
            </a:pP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421788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1A967B8-5E5A-D36B-D698-34ADD0A9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>
            <a:extLst>
              <a:ext uri="{FF2B5EF4-FFF2-40B4-BE49-F238E27FC236}">
                <a16:creationId xmlns:a16="http://schemas.microsoft.com/office/drawing/2014/main" id="{7FB52B4E-9B65-1407-CEAD-BD5C7AC5BB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102644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Metodología</a:t>
            </a:r>
            <a:endParaRPr dirty="0"/>
          </a:p>
        </p:txBody>
      </p:sp>
      <p:sp>
        <p:nvSpPr>
          <p:cNvPr id="3" name="Google Shape;594;p62">
            <a:extLst>
              <a:ext uri="{FF2B5EF4-FFF2-40B4-BE49-F238E27FC236}">
                <a16:creationId xmlns:a16="http://schemas.microsoft.com/office/drawing/2014/main" id="{52CE21EE-BBCD-05C1-B8DD-AFE0CAA33C2E}"/>
              </a:ext>
            </a:extLst>
          </p:cNvPr>
          <p:cNvSpPr txBox="1">
            <a:spLocks/>
          </p:cNvSpPr>
          <p:nvPr/>
        </p:nvSpPr>
        <p:spPr>
          <a:xfrm>
            <a:off x="2153660" y="2821652"/>
            <a:ext cx="4523171" cy="100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s-MX" sz="2400" dirty="0">
                <a:solidFill>
                  <a:schemeClr val="bg2"/>
                </a:solidFill>
              </a:rPr>
              <a:t>Emparejamiento con el</a:t>
            </a:r>
          </a:p>
          <a:p>
            <a:pPr>
              <a:buSzPts val="1100"/>
              <a:buFont typeface="Arial"/>
              <a:buNone/>
            </a:pPr>
            <a:r>
              <a:rPr lang="es-MX" sz="2400" dirty="0">
                <a:solidFill>
                  <a:schemeClr val="bg2"/>
                </a:solidFill>
              </a:rPr>
              <a:t>Algoritmo de </a:t>
            </a:r>
            <a:r>
              <a:rPr lang="es-MX" sz="2400" dirty="0" err="1">
                <a:solidFill>
                  <a:schemeClr val="bg2"/>
                </a:solidFill>
              </a:rPr>
              <a:t>Galey</a:t>
            </a:r>
            <a:r>
              <a:rPr lang="es-MX" sz="2400" dirty="0">
                <a:solidFill>
                  <a:schemeClr val="bg2"/>
                </a:solidFill>
              </a:rPr>
              <a:t> -Shapley</a:t>
            </a:r>
          </a:p>
        </p:txBody>
      </p:sp>
      <p:sp>
        <p:nvSpPr>
          <p:cNvPr id="7" name="Google Shape;498;p54">
            <a:extLst>
              <a:ext uri="{FF2B5EF4-FFF2-40B4-BE49-F238E27FC236}">
                <a16:creationId xmlns:a16="http://schemas.microsoft.com/office/drawing/2014/main" id="{59528C49-633B-65B8-B87F-615FB960F151}"/>
              </a:ext>
            </a:extLst>
          </p:cNvPr>
          <p:cNvSpPr txBox="1">
            <a:spLocks/>
          </p:cNvSpPr>
          <p:nvPr/>
        </p:nvSpPr>
        <p:spPr>
          <a:xfrm>
            <a:off x="1227234" y="3967184"/>
            <a:ext cx="2628611" cy="100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ctr">
              <a:buNone/>
            </a:pPr>
            <a:r>
              <a:rPr lang="es-MX" sz="1400" dirty="0"/>
              <a:t>Parejas heterosexuales – Variante de Universidad/Estudiantes</a:t>
            </a:r>
          </a:p>
        </p:txBody>
      </p:sp>
      <p:sp>
        <p:nvSpPr>
          <p:cNvPr id="8" name="Google Shape;498;p54">
            <a:extLst>
              <a:ext uri="{FF2B5EF4-FFF2-40B4-BE49-F238E27FC236}">
                <a16:creationId xmlns:a16="http://schemas.microsoft.com/office/drawing/2014/main" id="{AEF9F445-5DAA-38B4-DF42-53B66960ED92}"/>
              </a:ext>
            </a:extLst>
          </p:cNvPr>
          <p:cNvSpPr txBox="1">
            <a:spLocks/>
          </p:cNvSpPr>
          <p:nvPr/>
        </p:nvSpPr>
        <p:spPr>
          <a:xfrm>
            <a:off x="5171215" y="3967184"/>
            <a:ext cx="2628611" cy="100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ctr">
              <a:buNone/>
            </a:pPr>
            <a:r>
              <a:rPr lang="es-MX" sz="1400" dirty="0"/>
              <a:t>Parejas homosexuales – Variante de </a:t>
            </a:r>
            <a:r>
              <a:rPr lang="es-MX" sz="1400" dirty="0" err="1"/>
              <a:t>Roomies</a:t>
            </a:r>
            <a:endParaRPr lang="es-MX" sz="1400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FD9CA140-9A51-3B57-B75B-7E2AA32A3619}"/>
                  </a:ext>
                </a:extLst>
              </p14:cNvPr>
              <p14:cNvContentPartPr/>
              <p14:nvPr/>
            </p14:nvContentPartPr>
            <p14:xfrm>
              <a:off x="2677885" y="3709271"/>
              <a:ext cx="365760" cy="23940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FD9CA140-9A51-3B57-B75B-7E2AA32A36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8885" y="3700631"/>
                <a:ext cx="3834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7B0AA15D-CC4F-FBD2-1706-90263E0C1E13}"/>
                  </a:ext>
                </a:extLst>
              </p14:cNvPr>
              <p14:cNvContentPartPr/>
              <p14:nvPr/>
            </p14:nvContentPartPr>
            <p14:xfrm>
              <a:off x="5826037" y="3717191"/>
              <a:ext cx="365760" cy="23148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7B0AA15D-CC4F-FBD2-1706-90263E0C1E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17037" y="3708551"/>
                <a:ext cx="3834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FA0679E6-B778-114A-1B10-C890363456E4}"/>
                  </a:ext>
                </a:extLst>
              </p14:cNvPr>
              <p14:cNvContentPartPr/>
              <p14:nvPr/>
            </p14:nvContentPartPr>
            <p14:xfrm>
              <a:off x="2065361" y="1072173"/>
              <a:ext cx="360" cy="360"/>
            </p14:xfrm>
          </p:contentPart>
        </mc:Choice>
        <mc:Fallback xmlns=""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FA0679E6-B778-114A-1B10-C890363456E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56721" y="106353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Google Shape;498;p54">
            <a:extLst>
              <a:ext uri="{FF2B5EF4-FFF2-40B4-BE49-F238E27FC236}">
                <a16:creationId xmlns:a16="http://schemas.microsoft.com/office/drawing/2014/main" id="{3CCBAD4E-86C2-B261-B62E-5378A3B1E55F}"/>
              </a:ext>
            </a:extLst>
          </p:cNvPr>
          <p:cNvSpPr txBox="1">
            <a:spLocks/>
          </p:cNvSpPr>
          <p:nvPr/>
        </p:nvSpPr>
        <p:spPr>
          <a:xfrm>
            <a:off x="574983" y="1177659"/>
            <a:ext cx="8115011" cy="152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342900" indent="-342900" algn="just">
              <a:buAutoNum type="arabicPeriod"/>
            </a:pPr>
            <a:r>
              <a:rPr lang="es-MX" sz="1600" dirty="0"/>
              <a:t>Cálculo de matrices de similitud independientes para cada pregunta, utilizando métricas específicas (por ejemplo, Jaccard para variables categóricas o similitud de coseno para representaciones textuales). </a:t>
            </a:r>
          </a:p>
          <a:p>
            <a:pPr marL="342900" indent="-342900" algn="just">
              <a:buAutoNum type="arabicPeriod"/>
            </a:pPr>
            <a:r>
              <a:rPr lang="es-MX" sz="1600" dirty="0"/>
              <a:t>2. Integración de todas las matrices en una sola matriz global mediante un esquema de ponderación que asigna diferentes pesos a las preguntas según su relevancia</a:t>
            </a:r>
          </a:p>
        </p:txBody>
      </p:sp>
      <p:sp>
        <p:nvSpPr>
          <p:cNvPr id="17" name="Google Shape;594;p62">
            <a:extLst>
              <a:ext uri="{FF2B5EF4-FFF2-40B4-BE49-F238E27FC236}">
                <a16:creationId xmlns:a16="http://schemas.microsoft.com/office/drawing/2014/main" id="{00BFE390-9C19-14ED-C710-079052839A18}"/>
              </a:ext>
            </a:extLst>
          </p:cNvPr>
          <p:cNvSpPr txBox="1">
            <a:spLocks/>
          </p:cNvSpPr>
          <p:nvPr/>
        </p:nvSpPr>
        <p:spPr>
          <a:xfrm>
            <a:off x="706718" y="745729"/>
            <a:ext cx="335879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algn="l">
              <a:buSzPts val="1100"/>
              <a:buFont typeface="Arial"/>
              <a:buNone/>
            </a:pPr>
            <a:r>
              <a:rPr lang="es-MX" sz="2400" dirty="0"/>
              <a:t>Calculo de similitud</a:t>
            </a:r>
          </a:p>
        </p:txBody>
      </p:sp>
    </p:spTree>
    <p:extLst>
      <p:ext uri="{BB962C8B-B14F-4D97-AF65-F5344CB8AC3E}">
        <p14:creationId xmlns:p14="http://schemas.microsoft.com/office/powerpoint/2010/main" val="281255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43C24FB-7C3B-89DD-9884-7B56299F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>
            <a:extLst>
              <a:ext uri="{FF2B5EF4-FFF2-40B4-BE49-F238E27FC236}">
                <a16:creationId xmlns:a16="http://schemas.microsoft.com/office/drawing/2014/main" id="{E38E940C-50FC-4D51-7810-9EA96A150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102644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Limites del proyecto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3D4E5489-DEBC-94D8-9DA1-55912B90EF38}"/>
                  </a:ext>
                </a:extLst>
              </p14:cNvPr>
              <p14:cNvContentPartPr/>
              <p14:nvPr/>
            </p14:nvContentPartPr>
            <p14:xfrm>
              <a:off x="2065361" y="1072173"/>
              <a:ext cx="360" cy="360"/>
            </p14:xfrm>
          </p:contentPart>
        </mc:Choice>
        <mc:Fallback xmlns=""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3D4E5489-DEBC-94D8-9DA1-55912B90EF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6721" y="106353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Google Shape;498;p54">
            <a:extLst>
              <a:ext uri="{FF2B5EF4-FFF2-40B4-BE49-F238E27FC236}">
                <a16:creationId xmlns:a16="http://schemas.microsoft.com/office/drawing/2014/main" id="{81847A0D-93A0-4F54-7591-D113941D8763}"/>
              </a:ext>
            </a:extLst>
          </p:cNvPr>
          <p:cNvSpPr txBox="1">
            <a:spLocks/>
          </p:cNvSpPr>
          <p:nvPr/>
        </p:nvSpPr>
        <p:spPr>
          <a:xfrm>
            <a:off x="594719" y="1265215"/>
            <a:ext cx="8115011" cy="74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342900" indent="-342900" algn="just"/>
            <a:r>
              <a:rPr lang="es-MX" sz="1600" dirty="0"/>
              <a:t>Muestra cerrada</a:t>
            </a:r>
          </a:p>
          <a:p>
            <a:pPr marL="342900" indent="-342900" algn="just"/>
            <a:r>
              <a:rPr lang="es-MX" sz="1600" dirty="0"/>
              <a:t>Falta de retroalimentación</a:t>
            </a:r>
          </a:p>
        </p:txBody>
      </p:sp>
      <p:sp>
        <p:nvSpPr>
          <p:cNvPr id="17" name="Google Shape;594;p62">
            <a:extLst>
              <a:ext uri="{FF2B5EF4-FFF2-40B4-BE49-F238E27FC236}">
                <a16:creationId xmlns:a16="http://schemas.microsoft.com/office/drawing/2014/main" id="{C9C200FE-4C7D-00FD-9B6D-5FFAE0E5A1F5}"/>
              </a:ext>
            </a:extLst>
          </p:cNvPr>
          <p:cNvSpPr txBox="1">
            <a:spLocks/>
          </p:cNvSpPr>
          <p:nvPr/>
        </p:nvSpPr>
        <p:spPr>
          <a:xfrm>
            <a:off x="706718" y="745729"/>
            <a:ext cx="335879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algn="l">
              <a:buSzPts val="1100"/>
              <a:buFont typeface="Arial"/>
              <a:buNone/>
            </a:pPr>
            <a:r>
              <a:rPr lang="es-MX" sz="2400" dirty="0"/>
              <a:t>Métricas de éxito</a:t>
            </a:r>
          </a:p>
        </p:txBody>
      </p:sp>
      <p:sp>
        <p:nvSpPr>
          <p:cNvPr id="2" name="Google Shape;497;p54">
            <a:extLst>
              <a:ext uri="{FF2B5EF4-FFF2-40B4-BE49-F238E27FC236}">
                <a16:creationId xmlns:a16="http://schemas.microsoft.com/office/drawing/2014/main" id="{E026E42E-3C0D-E1A2-83FE-3CA1A45A1B9C}"/>
              </a:ext>
            </a:extLst>
          </p:cNvPr>
          <p:cNvSpPr txBox="1">
            <a:spLocks/>
          </p:cNvSpPr>
          <p:nvPr/>
        </p:nvSpPr>
        <p:spPr>
          <a:xfrm>
            <a:off x="747119" y="216539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es-MX" dirty="0"/>
              <a:t>Evaluación</a:t>
            </a:r>
          </a:p>
        </p:txBody>
      </p:sp>
      <p:sp>
        <p:nvSpPr>
          <p:cNvPr id="4" name="Google Shape;498;p54">
            <a:extLst>
              <a:ext uri="{FF2B5EF4-FFF2-40B4-BE49-F238E27FC236}">
                <a16:creationId xmlns:a16="http://schemas.microsoft.com/office/drawing/2014/main" id="{2EDF6266-7CC0-7B82-3F29-4CCD43BD6182}"/>
              </a:ext>
            </a:extLst>
          </p:cNvPr>
          <p:cNvSpPr txBox="1">
            <a:spLocks/>
          </p:cNvSpPr>
          <p:nvPr/>
        </p:nvSpPr>
        <p:spPr>
          <a:xfrm>
            <a:off x="706718" y="2890496"/>
            <a:ext cx="8115011" cy="1273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rla"/>
              <a:buChar char="●"/>
              <a:defRPr sz="12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342900" indent="-342900" algn="just"/>
            <a:r>
              <a:rPr lang="es-MX" sz="1600" dirty="0"/>
              <a:t>La distancia promedio </a:t>
            </a:r>
            <a:r>
              <a:rPr lang="es-MX" sz="1600" dirty="0" err="1"/>
              <a:t>intra-pareja</a:t>
            </a:r>
            <a:r>
              <a:rPr lang="es-MX" sz="1600" dirty="0"/>
              <a:t> (minimizada)</a:t>
            </a:r>
          </a:p>
          <a:p>
            <a:pPr marL="342900" indent="-342900" algn="just"/>
            <a:r>
              <a:rPr lang="es-MX" sz="1600" dirty="0"/>
              <a:t>La varianza de afinidades entre parejas</a:t>
            </a:r>
          </a:p>
          <a:p>
            <a:pPr marL="342900" indent="-342900" algn="just"/>
            <a:r>
              <a:rPr lang="es-MX" sz="1600" dirty="0"/>
              <a:t>Índice de estabilidad: Cuántos </a:t>
            </a:r>
            <a:r>
              <a:rPr lang="es-MX" sz="1600" u="sng" dirty="0"/>
              <a:t>emparejamientos</a:t>
            </a:r>
            <a:r>
              <a:rPr lang="es-MX" sz="1600" dirty="0"/>
              <a:t> alternativos habrían sido mutuamente preferidos</a:t>
            </a:r>
          </a:p>
        </p:txBody>
      </p:sp>
    </p:spTree>
    <p:extLst>
      <p:ext uri="{BB962C8B-B14F-4D97-AF65-F5344CB8AC3E}">
        <p14:creationId xmlns:p14="http://schemas.microsoft.com/office/powerpoint/2010/main" val="125060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Hepatitis Clinical Case by Slidesgo">
  <a:themeElements>
    <a:clrScheme name="Simple Light">
      <a:dk1>
        <a:srgbClr val="000000"/>
      </a:dk1>
      <a:lt1>
        <a:srgbClr val="FFFFFF"/>
      </a:lt1>
      <a:dk2>
        <a:srgbClr val="06688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467</Words>
  <Application>Microsoft Office PowerPoint</Application>
  <PresentationFormat>Presentación en pantalla (16:9)</PresentationFormat>
  <Paragraphs>51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Karla</vt:lpstr>
      <vt:lpstr>Arial</vt:lpstr>
      <vt:lpstr>DM Serif Display</vt:lpstr>
      <vt:lpstr>Minimalist Hepatitis Clinical Case by Slidesgo</vt:lpstr>
      <vt:lpstr>SISTEMA DE EMPAREJAMIENTO</vt:lpstr>
      <vt:lpstr>Introducción</vt:lpstr>
      <vt:lpstr>Preguntas de investigación</vt:lpstr>
      <vt:lpstr>Objetivos</vt:lpstr>
      <vt:lpstr>Metodología</vt:lpstr>
      <vt:lpstr>Metodología</vt:lpstr>
      <vt:lpstr>Limites del proyecto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Jazmín Jones</cp:lastModifiedBy>
  <cp:revision>8</cp:revision>
  <dcterms:modified xsi:type="dcterms:W3CDTF">2025-11-07T18:48:42Z</dcterms:modified>
</cp:coreProperties>
</file>